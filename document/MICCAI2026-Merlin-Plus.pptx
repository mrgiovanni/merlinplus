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0" r:id="rId5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" userDrawn="1">
          <p15:clr>
            <a:srgbClr val="A4A3A4"/>
          </p15:clr>
        </p15:guide>
        <p15:guide id="2" pos="224" userDrawn="1">
          <p15:clr>
            <a:srgbClr val="A4A3A4"/>
          </p15:clr>
        </p15:guide>
        <p15:guide id="3" pos="18824" userDrawn="1">
          <p15:clr>
            <a:srgbClr val="A4A3A4"/>
          </p15:clr>
        </p15:guide>
        <p15:guide id="4" orient="horz" pos="26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95DB"/>
    <a:srgbClr val="9A0000"/>
    <a:srgbClr val="C44E13"/>
    <a:srgbClr val="C44F13"/>
    <a:srgbClr val="012D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9"/>
    <p:restoredTop sz="98211"/>
  </p:normalViewPr>
  <p:slideViewPr>
    <p:cSldViewPr snapToGrid="0">
      <p:cViewPr>
        <p:scale>
          <a:sx n="51" d="100"/>
          <a:sy n="51" d="100"/>
        </p:scale>
        <p:origin x="2552" y="-5432"/>
      </p:cViewPr>
      <p:guideLst>
        <p:guide orient="horz" pos="234"/>
        <p:guide pos="224"/>
        <p:guide pos="18824"/>
        <p:guide orient="horz" pos="26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46811-0344-1C44-9B6E-A3DB5FA70451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3464D1-B649-BE43-AFA3-090248E40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ABC89-AEB1-FD79-F7C2-E9DC74DC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4AA30-D98B-182A-2C00-E1AD53383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7CB18-E0D1-19B5-3CAF-0BD1324D8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8B729-DFD6-38E1-8F8E-7B644F8CA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464D1-B649-BE43-AFA3-090248E40D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4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543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92655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6961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0639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52042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790581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02455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489891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26853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0241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76238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FA25F-E529-FB44-8B78-2A2679BFE347}" type="datetimeFigureOut">
              <a:rPr lang="en-TR" smtClean="0"/>
              <a:t>9/22/26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354971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hyperlink" Target="http://github.com/mrgiovanni/R-Super" TargetMode="Externa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zzhou82@jh.edu" TargetMode="External"/><Relationship Id="rId11" Type="http://schemas.openxmlformats.org/officeDocument/2006/relationships/image" Target="../media/image7.png"/><Relationship Id="rId24" Type="http://schemas.openxmlformats.org/officeDocument/2006/relationships/image" Target="../media/image20.png"/><Relationship Id="rId5" Type="http://schemas.openxmlformats.org/officeDocument/2006/relationships/image" Target="../media/image3.svg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A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54A8D4-DCA0-EB5D-EB56-AB169CE18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Picture 1072">
            <a:extLst>
              <a:ext uri="{FF2B5EF4-FFF2-40B4-BE49-F238E27FC236}">
                <a16:creationId xmlns:a16="http://schemas.microsoft.com/office/drawing/2014/main" id="{96790FCA-AEC3-91ED-2941-3777C5ED5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5353474" y="23674846"/>
            <a:ext cx="14511370" cy="18422859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F51E2453-818B-6103-16B7-F0A6566B7F0D}"/>
              </a:ext>
            </a:extLst>
          </p:cNvPr>
          <p:cNvSpPr/>
          <p:nvPr/>
        </p:nvSpPr>
        <p:spPr>
          <a:xfrm>
            <a:off x="351168" y="15521994"/>
            <a:ext cx="14415270" cy="48896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1800" dirty="0">
                <a:latin typeface="Avenir Book" panose="02000503020000020003" pitchFamily="2" charset="0"/>
              </a:rPr>
              <a:t>Unlike others, the R-Super loss functions can leverage radiology reports to yield massive performance improvements in tumor segmentation.</a:t>
            </a:r>
            <a:endParaRPr lang="en-US" sz="1800" dirty="0">
              <a:highlight>
                <a:srgbClr val="FFFF00"/>
              </a:highlight>
              <a:latin typeface="Avenir Book" panose="02000503020000020003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19B712-AB0C-0D74-7C69-D467BEA9A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5329690" y="19243336"/>
            <a:ext cx="14551871" cy="4050754"/>
          </a:xfrm>
          <a:prstGeom prst="rect">
            <a:avLst/>
          </a:prstGeom>
        </p:spPr>
      </p:pic>
      <p:pic>
        <p:nvPicPr>
          <p:cNvPr id="1090" name="Picture 1089">
            <a:extLst>
              <a:ext uri="{FF2B5EF4-FFF2-40B4-BE49-F238E27FC236}">
                <a16:creationId xmlns:a16="http://schemas.microsoft.com/office/drawing/2014/main" id="{D3A57B75-DB85-B03E-87A9-76B07DB8C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311061" y="35791303"/>
            <a:ext cx="14436153" cy="6306402"/>
          </a:xfrm>
          <a:prstGeom prst="rect">
            <a:avLst/>
          </a:prstGeom>
        </p:spPr>
      </p:pic>
      <p:sp>
        <p:nvSpPr>
          <p:cNvPr id="1063" name="Rectangle 1062">
            <a:extLst>
              <a:ext uri="{FF2B5EF4-FFF2-40B4-BE49-F238E27FC236}">
                <a16:creationId xmlns:a16="http://schemas.microsoft.com/office/drawing/2014/main" id="{461B0D82-2DFD-E012-0408-FAC2AAB3E720}"/>
              </a:ext>
            </a:extLst>
          </p:cNvPr>
          <p:cNvSpPr/>
          <p:nvPr/>
        </p:nvSpPr>
        <p:spPr>
          <a:xfrm>
            <a:off x="351168" y="20702432"/>
            <a:ext cx="14401474" cy="147597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FC307D-72B1-9E58-D71A-6EB83CB4EB7C}"/>
              </a:ext>
            </a:extLst>
          </p:cNvPr>
          <p:cNvSpPr/>
          <p:nvPr/>
        </p:nvSpPr>
        <p:spPr>
          <a:xfrm>
            <a:off x="354747" y="10857755"/>
            <a:ext cx="14415270" cy="44183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1800" dirty="0">
                <a:latin typeface="Avenir Book" panose="02000503020000020003" pitchFamily="2" charset="0"/>
              </a:rPr>
              <a:t>Unlike others, the R-Super loss functions can leverage radiology reports to yield massive performance improvements in tumor segmentation.</a:t>
            </a:r>
            <a:endParaRPr lang="en-US" sz="1800" dirty="0">
              <a:highlight>
                <a:srgbClr val="FFFF00"/>
              </a:highlight>
              <a:latin typeface="Avenir Book" panose="02000503020000020003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282670-8371-14F9-1F6B-8E22CC164731}"/>
              </a:ext>
            </a:extLst>
          </p:cNvPr>
          <p:cNvSpPr/>
          <p:nvPr/>
        </p:nvSpPr>
        <p:spPr>
          <a:xfrm>
            <a:off x="355600" y="405643"/>
            <a:ext cx="29527500" cy="46928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6E6BA-1F2B-026D-AEC4-B657FA4BB255}"/>
              </a:ext>
            </a:extLst>
          </p:cNvPr>
          <p:cNvSpPr txBox="1"/>
          <p:nvPr/>
        </p:nvSpPr>
        <p:spPr>
          <a:xfrm>
            <a:off x="311061" y="42207351"/>
            <a:ext cx="29490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This work was supported by the </a:t>
            </a:r>
            <a:r>
              <a:rPr lang="en-US" sz="2800" dirty="0" err="1">
                <a:solidFill>
                  <a:schemeClr val="bg1"/>
                </a:solidFill>
                <a:latin typeface="Avenir Book" panose="02000503020000020003" pitchFamily="2" charset="0"/>
              </a:rPr>
              <a:t>Lustgarten</a:t>
            </a:r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 Foundation, the National Institutes of Health (NIH) R01EB037669, and the National Science Center, Poland 2025/57/B/ST6/03100.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66534-CE91-3B77-780E-0F8A758ACD99}"/>
              </a:ext>
            </a:extLst>
          </p:cNvPr>
          <p:cNvSpPr txBox="1"/>
          <p:nvPr/>
        </p:nvSpPr>
        <p:spPr>
          <a:xfrm>
            <a:off x="3999124" y="397889"/>
            <a:ext cx="226490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Avenir Black" panose="02000503020000020003" pitchFamily="2" charset="0"/>
              </a:rPr>
              <a:t>Merlin </a:t>
            </a:r>
            <a:r>
              <a:rPr lang="en-US" sz="5400" b="1" dirty="0">
                <a:solidFill>
                  <a:srgbClr val="9A0000"/>
                </a:solidFill>
                <a:latin typeface="Avenir Black" panose="02000503020000020003" pitchFamily="2" charset="0"/>
              </a:rPr>
              <a:t>Plus</a:t>
            </a:r>
            <a:r>
              <a:rPr lang="en-US" sz="5400" b="1" dirty="0">
                <a:latin typeface="Avenir Black" panose="02000503020000020003" pitchFamily="2" charset="0"/>
              </a:rPr>
              <a:t>: A Large-Scale, Multi-Cancer, </a:t>
            </a:r>
          </a:p>
          <a:p>
            <a:pPr algn="ctr"/>
            <a:r>
              <a:rPr lang="en-US" sz="5400" b="1" dirty="0">
                <a:latin typeface="Avenir Black" panose="02000503020000020003" pitchFamily="2" charset="0"/>
              </a:rPr>
              <a:t>Longitudinal, Image-Mask-Report Dataset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2B56DE-8D41-63FF-F04E-8988EC136336}"/>
              </a:ext>
            </a:extLst>
          </p:cNvPr>
          <p:cNvGrpSpPr/>
          <p:nvPr/>
        </p:nvGrpSpPr>
        <p:grpSpPr>
          <a:xfrm>
            <a:off x="2862854" y="2094131"/>
            <a:ext cx="26178402" cy="3108543"/>
            <a:chOff x="2862854" y="1883117"/>
            <a:chExt cx="26178402" cy="3108543"/>
          </a:xfrm>
        </p:grpSpPr>
        <p:pic>
          <p:nvPicPr>
            <p:cNvPr id="9" name="Graphic 8" descr="Envelope with solid fill">
              <a:extLst>
                <a:ext uri="{FF2B5EF4-FFF2-40B4-BE49-F238E27FC236}">
                  <a16:creationId xmlns:a16="http://schemas.microsoft.com/office/drawing/2014/main" id="{2DBED6C0-7A60-B8B4-013A-3E491B0EF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8664312" y="4394383"/>
              <a:ext cx="376944" cy="37694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40FC28-0B3E-79A2-875B-A036C40EEB33}"/>
                </a:ext>
              </a:extLst>
            </p:cNvPr>
            <p:cNvSpPr txBox="1"/>
            <p:nvPr/>
          </p:nvSpPr>
          <p:spPr>
            <a:xfrm>
              <a:off x="2862854" y="1883117"/>
              <a:ext cx="24549504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Pedro R. A. S. Bassi</a:t>
              </a:r>
              <a:r>
                <a:rPr lang="en-US" sz="2800" baseline="30000" dirty="0"/>
                <a:t>1,2,3†</a:t>
              </a:r>
              <a:r>
                <a:rPr lang="en-US" sz="2800" dirty="0"/>
                <a:t>, </a:t>
              </a:r>
              <a:r>
                <a:rPr lang="en-US" sz="2800" dirty="0" err="1"/>
                <a:t>Wenxuan</a:t>
              </a:r>
              <a:r>
                <a:rPr lang="en-US" sz="2800" dirty="0"/>
                <a:t> Li</a:t>
              </a:r>
              <a:r>
                <a:rPr lang="en-US" sz="2800" baseline="30000" dirty="0"/>
                <a:t>1,2,3†</a:t>
              </a:r>
              <a:r>
                <a:rPr lang="en-US" sz="2800" dirty="0"/>
                <a:t>, Szymon Płotka</a:t>
              </a:r>
              <a:r>
                <a:rPr lang="en-US" sz="2800" baseline="30000" dirty="0"/>
                <a:t>4†</a:t>
              </a:r>
              <a:r>
                <a:rPr lang="en-US" sz="2800" dirty="0"/>
                <a:t>, </a:t>
              </a:r>
            </a:p>
            <a:p>
              <a:pPr algn="ctr"/>
              <a:r>
                <a:rPr lang="en-US" sz="2800" dirty="0"/>
                <a:t>Ruby Honjol</a:t>
              </a:r>
              <a:r>
                <a:rPr lang="en-US" sz="2800" baseline="30000" dirty="0"/>
                <a:t>5</a:t>
              </a:r>
              <a:r>
                <a:rPr lang="en-US" sz="2800" dirty="0"/>
                <a:t>, Jakub Prządo</a:t>
              </a:r>
              <a:r>
                <a:rPr lang="en-US" sz="2800" baseline="30000" dirty="0"/>
                <a:t>6</a:t>
              </a:r>
              <a:r>
                <a:rPr lang="en-US" sz="2800" dirty="0"/>
                <a:t>, </a:t>
              </a:r>
              <a:r>
                <a:rPr lang="en-US" sz="2800" dirty="0" err="1"/>
                <a:t>Xinze</a:t>
              </a:r>
              <a:r>
                <a:rPr lang="en-US" sz="2800" dirty="0"/>
                <a:t> Zhou</a:t>
              </a:r>
              <a:r>
                <a:rPr lang="en-US" sz="2800" baseline="30000" dirty="0"/>
                <a:t>1</a:t>
              </a:r>
              <a:r>
                <a:rPr lang="en-US" sz="2800" dirty="0"/>
                <a:t>, Kang Wang</a:t>
              </a:r>
              <a:r>
                <a:rPr lang="en-US" sz="2800" baseline="30000" dirty="0"/>
                <a:t>7</a:t>
              </a:r>
              <a:r>
                <a:rPr lang="en-US" sz="2800" dirty="0"/>
                <a:t>, Yang Yang</a:t>
              </a:r>
              <a:r>
                <a:rPr lang="en-US" sz="2800" baseline="30000" dirty="0"/>
                <a:t>7</a:t>
              </a:r>
              <a:r>
                <a:rPr lang="en-US" sz="2800" dirty="0"/>
                <a:t>, Malte Jensen</a:t>
              </a:r>
              <a:r>
                <a:rPr lang="en-US" sz="2800" baseline="30000" dirty="0"/>
                <a:t>5</a:t>
              </a:r>
              <a:r>
                <a:rPr lang="en-US" sz="2800" dirty="0"/>
                <a:t>, </a:t>
              </a:r>
            </a:p>
            <a:p>
              <a:pPr algn="ctr"/>
              <a:r>
                <a:rPr lang="en-US" sz="2800" dirty="0"/>
                <a:t>Akshay S. Chaudhari</a:t>
              </a:r>
              <a:r>
                <a:rPr lang="en-US" sz="2800" baseline="30000" dirty="0"/>
                <a:t>5</a:t>
              </a:r>
              <a:r>
                <a:rPr lang="en-US" sz="2800" dirty="0"/>
                <a:t>, Curtis P. Langlotz</a:t>
              </a:r>
              <a:r>
                <a:rPr lang="en-US" sz="2800" baseline="30000" dirty="0"/>
                <a:t>5</a:t>
              </a:r>
              <a:r>
                <a:rPr lang="en-US" sz="2800" dirty="0"/>
                <a:t>, Alan L. Yuille</a:t>
              </a:r>
              <a:r>
                <a:rPr lang="en-US" sz="2800" baseline="30000" dirty="0"/>
                <a:t>1</a:t>
              </a:r>
              <a:r>
                <a:rPr lang="en-US" sz="2800" dirty="0"/>
                <a:t>, and </a:t>
              </a:r>
              <a:r>
                <a:rPr lang="en-US" sz="2800" dirty="0" err="1"/>
                <a:t>Zongwei</a:t>
              </a:r>
              <a:r>
                <a:rPr lang="en-US" sz="2800" dirty="0"/>
                <a:t> Zhou</a:t>
              </a:r>
              <a:r>
                <a:rPr lang="en-US" sz="2800" baseline="30000" dirty="0"/>
                <a:t>1,8*</a:t>
              </a:r>
            </a:p>
            <a:p>
              <a:pPr algn="ctr"/>
              <a:endParaRPr lang="en-US" sz="1400" dirty="0">
                <a:latin typeface="Avenir Medium" panose="02000503020000020003" pitchFamily="2" charset="0"/>
              </a:endParaRPr>
            </a:p>
            <a:p>
              <a:pPr algn="ctr"/>
              <a:r>
                <a:rPr lang="en-US" sz="2800" i="1" baseline="30000" dirty="0"/>
                <a:t>1</a:t>
              </a:r>
              <a:r>
                <a:rPr lang="en-US" sz="2800" i="1" dirty="0"/>
                <a:t>Johns Hopkins University  </a:t>
              </a:r>
              <a:r>
                <a:rPr lang="en-US" sz="2800" i="1" baseline="30000" dirty="0"/>
                <a:t>2</a:t>
              </a:r>
              <a:r>
                <a:rPr lang="en-US" sz="2800" i="1" dirty="0"/>
                <a:t>Harvard Medical School  </a:t>
              </a:r>
              <a:r>
                <a:rPr lang="en-US" sz="2800" i="1" baseline="30000" dirty="0"/>
                <a:t>3</a:t>
              </a:r>
              <a:r>
                <a:rPr lang="en-US" sz="2800" i="1" dirty="0"/>
                <a:t>Massachusetts General Hospital  </a:t>
              </a:r>
              <a:r>
                <a:rPr lang="en-US" sz="2800" i="1" baseline="30000" dirty="0"/>
                <a:t>4</a:t>
              </a:r>
              <a:r>
                <a:rPr lang="en-US" sz="2800" i="1" dirty="0"/>
                <a:t>Jagiellonian University</a:t>
              </a:r>
              <a:br>
                <a:rPr lang="en-US" sz="2800" i="1" dirty="0"/>
              </a:br>
              <a:r>
                <a:rPr lang="en-US" sz="2800" i="1" baseline="30000" dirty="0"/>
                <a:t>5</a:t>
              </a:r>
              <a:r>
                <a:rPr lang="en-US" sz="2800" i="1" dirty="0"/>
                <a:t>Stanford University  </a:t>
              </a:r>
              <a:r>
                <a:rPr lang="en-US" sz="2800" i="1" baseline="30000" dirty="0"/>
                <a:t>6</a:t>
              </a:r>
              <a:r>
                <a:rPr lang="en-US" sz="2800" i="1" dirty="0"/>
                <a:t>Warmian-Masurian Cancer Center  </a:t>
              </a:r>
              <a:r>
                <a:rPr lang="en-US" sz="2800" i="1" baseline="30000" dirty="0"/>
                <a:t>7</a:t>
              </a:r>
              <a:r>
                <a:rPr lang="en-US" sz="2800" i="1" dirty="0"/>
                <a:t>University of California, San Francisco  </a:t>
              </a:r>
              <a:r>
                <a:rPr lang="en-US" sz="2800" i="1" baseline="30000" dirty="0"/>
                <a:t>8</a:t>
              </a:r>
              <a:r>
                <a:rPr lang="en-US" sz="2800" i="1" dirty="0"/>
                <a:t>Johns Hopkins Medicine</a:t>
              </a:r>
            </a:p>
            <a:p>
              <a:pPr algn="ctr"/>
              <a:endParaRPr lang="en-US" sz="1400" dirty="0">
                <a:latin typeface="Avenir Medium" panose="02000503020000020003" pitchFamily="2" charset="0"/>
              </a:endParaRPr>
            </a:p>
            <a:p>
              <a:pPr algn="ctr"/>
              <a:r>
                <a:rPr lang="en-US" sz="2800" b="1" dirty="0">
                  <a:latin typeface="Avenir Black" panose="02000503020000020003" pitchFamily="2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zzhou82@jh.edu</a:t>
              </a:r>
              <a:r>
                <a:rPr lang="en-US" sz="2800" b="1" dirty="0">
                  <a:latin typeface="Avenir Black" panose="02000503020000020003" pitchFamily="2" charset="0"/>
                </a:rPr>
                <a:t>; Data (QR code): </a:t>
              </a:r>
              <a:r>
                <a:rPr lang="en-US" sz="2800" b="1" u="sng" dirty="0">
                  <a:solidFill>
                    <a:srgbClr val="9A0000"/>
                  </a:solidFill>
                  <a:latin typeface="Avenir Black" panose="02000503020000020003" pitchFamily="2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github.com/mrgiovanni/</a:t>
              </a:r>
              <a:r>
                <a:rPr lang="en-US" sz="2800" b="1" u="sng" dirty="0" err="1">
                  <a:solidFill>
                    <a:srgbClr val="9A0000"/>
                  </a:solidFill>
                  <a:latin typeface="Avenir Black" panose="02000503020000020003" pitchFamily="2" charset="0"/>
                </a:rPr>
                <a:t>MerlinPlus</a:t>
              </a:r>
              <a:endParaRPr lang="en-US" sz="2800" b="1" u="sng" dirty="0">
                <a:solidFill>
                  <a:srgbClr val="9A0000"/>
                </a:solidFill>
                <a:latin typeface="Avenir Black" panose="02000503020000020003" pitchFamily="2" charset="0"/>
              </a:endParaRPr>
            </a:p>
          </p:txBody>
        </p:sp>
      </p:grpSp>
      <p:pic>
        <p:nvPicPr>
          <p:cNvPr id="11" name="Picture 10" descr="A blue and black logo&#10;&#10;Description automatically generated">
            <a:extLst>
              <a:ext uri="{FF2B5EF4-FFF2-40B4-BE49-F238E27FC236}">
                <a16:creationId xmlns:a16="http://schemas.microsoft.com/office/drawing/2014/main" id="{F0B0C089-CA30-BBB6-B1A0-38D7361E6C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622" y="605223"/>
            <a:ext cx="3759227" cy="177842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1C4002B-2355-C3F1-8F08-4DB6CEA32DCC}"/>
              </a:ext>
            </a:extLst>
          </p:cNvPr>
          <p:cNvSpPr/>
          <p:nvPr/>
        </p:nvSpPr>
        <p:spPr>
          <a:xfrm>
            <a:off x="337344" y="5526152"/>
            <a:ext cx="29527500" cy="4694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CE0E0-9548-91C6-E6D7-08B3FBD8FF61}"/>
              </a:ext>
            </a:extLst>
          </p:cNvPr>
          <p:cNvSpPr txBox="1"/>
          <p:nvPr/>
        </p:nvSpPr>
        <p:spPr>
          <a:xfrm>
            <a:off x="575832" y="5566852"/>
            <a:ext cx="29069717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9A0000"/>
                </a:solidFill>
                <a:latin typeface="Avenir Black" panose="02000503020000020003" pitchFamily="2" charset="0"/>
              </a:rPr>
              <a:t>A Public Dataset of Longitudinal CT Scans, Radiology Reports, and Masks for 9 Cancer Types</a:t>
            </a:r>
          </a:p>
          <a:p>
            <a:pPr algn="just">
              <a:spcBef>
                <a:spcPts val="1200"/>
              </a:spcBef>
            </a:pPr>
            <a:r>
              <a:rPr lang="en-US" sz="2800" b="1" dirty="0">
                <a:solidFill>
                  <a:srgbClr val="9A0000"/>
                </a:solidFill>
                <a:latin typeface="Avenir Black" panose="02000503020000020003" pitchFamily="2" charset="0"/>
              </a:rPr>
              <a:t>Background</a:t>
            </a:r>
            <a:r>
              <a:rPr lang="en-US" sz="2800" dirty="0">
                <a:latin typeface="Avenir Book" panose="02000503020000020003" pitchFamily="2" charset="0"/>
              </a:rPr>
              <a:t>: Tumor segmentation models can advance cancer detection and surpass VLMs and classifiers, but </a:t>
            </a:r>
            <a:r>
              <a:rPr lang="en-US" sz="2800" b="1" dirty="0">
                <a:latin typeface="Avenir Book" panose="02000503020000020003" pitchFamily="2" charset="0"/>
              </a:rPr>
              <a:t>public datasets lack masks</a:t>
            </a:r>
            <a:r>
              <a:rPr lang="en-US" sz="2800" dirty="0">
                <a:latin typeface="Avenir Book" panose="02000503020000020003" pitchFamily="2" charset="0"/>
              </a:rPr>
              <a:t> for most tumor types in CT. Furthermore, longitudinal AI models are expected to learn cancer progression, but most public CT datasets </a:t>
            </a:r>
            <a:r>
              <a:rPr lang="en-US" sz="2800" b="1" dirty="0">
                <a:latin typeface="Avenir Book" panose="02000503020000020003" pitchFamily="2" charset="0"/>
              </a:rPr>
              <a:t>lack multiple scans per patient</a:t>
            </a:r>
            <a:r>
              <a:rPr lang="en-US" sz="2800" dirty="0">
                <a:latin typeface="Avenir Book" panose="02000503020000020003" pitchFamily="2" charset="0"/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en-US" sz="2800" b="1" dirty="0">
                <a:solidFill>
                  <a:srgbClr val="9A0000"/>
                </a:solidFill>
                <a:latin typeface="Avenir Black" panose="02000503020000020003" pitchFamily="2" charset="0"/>
              </a:rPr>
              <a:t>Contribution</a:t>
            </a:r>
            <a:r>
              <a:rPr lang="en-US" sz="2800" dirty="0">
                <a:latin typeface="Avenir Book" panose="02000503020000020003" pitchFamily="2" charset="0"/>
              </a:rPr>
              <a:t>: In Merlin Plus, radiologists created tumor masks for </a:t>
            </a:r>
            <a:r>
              <a:rPr lang="en-US" sz="2800" b="1" dirty="0">
                <a:latin typeface="Avenir Book" panose="02000503020000020003" pitchFamily="2" charset="0"/>
              </a:rPr>
              <a:t>tumors in 9 organs </a:t>
            </a:r>
            <a:r>
              <a:rPr lang="en-US" sz="2800" dirty="0">
                <a:latin typeface="Avenir Book" panose="02000503020000020003" pitchFamily="2" charset="0"/>
              </a:rPr>
              <a:t>in the Merlin dataset (Stanford hospital, 25,494 CT scans), the largest pelvic and abdominal public CT dataset. Additionally, we release anonymized patient IDs and scan dates, making Merlin Plus a longitudinal dataset: </a:t>
            </a:r>
            <a:r>
              <a:rPr lang="en-US" sz="2800" b="1" dirty="0">
                <a:latin typeface="Avenir Book" panose="02000503020000020003" pitchFamily="2" charset="0"/>
              </a:rPr>
              <a:t>3,830 patients have two or more CT scans</a:t>
            </a:r>
            <a:r>
              <a:rPr lang="en-US" sz="2800" dirty="0">
                <a:latin typeface="Avenir Book" panose="02000503020000020003" pitchFamily="2" charset="0"/>
              </a:rPr>
              <a:t>. </a:t>
            </a:r>
          </a:p>
          <a:p>
            <a:pPr algn="just">
              <a:spcBef>
                <a:spcPts val="1200"/>
              </a:spcBef>
            </a:pPr>
            <a:r>
              <a:rPr lang="en-US" sz="2800" b="1" dirty="0">
                <a:solidFill>
                  <a:srgbClr val="9A0000"/>
                </a:solidFill>
                <a:latin typeface="Avenir Black" panose="02000503020000020003" pitchFamily="2" charset="0"/>
                <a:cs typeface="Arial" panose="020B0604020202020204" pitchFamily="34" charset="0"/>
              </a:rPr>
              <a:t>Method</a:t>
            </a:r>
            <a:r>
              <a:rPr lang="en-US" sz="2800" dirty="0">
                <a:latin typeface="Avenir Book" panose="02000503020000020003" pitchFamily="2" charset="0"/>
                <a:cs typeface="Arial" panose="020B0604020202020204" pitchFamily="34" charset="0"/>
              </a:rPr>
              <a:t>: A </a:t>
            </a:r>
            <a:r>
              <a:rPr lang="en-US" sz="2800" b="1" dirty="0">
                <a:latin typeface="Avenir Book" panose="02000503020000020003" pitchFamily="2" charset="0"/>
                <a:cs typeface="Arial" panose="020B0604020202020204" pitchFamily="34" charset="0"/>
              </a:rPr>
              <a:t>new active learning method</a:t>
            </a:r>
            <a:r>
              <a:rPr lang="en-US" sz="2800" dirty="0">
                <a:latin typeface="Avenir Book" panose="02000503020000020003" pitchFamily="2" charset="0"/>
                <a:cs typeface="Arial" panose="020B0604020202020204" pitchFamily="34" charset="0"/>
              </a:rPr>
              <a:t>, based on radiology reports and Report Supervision (R-Super), allowed 4 radiologists to create masks 3 to 5 times faster.</a:t>
            </a:r>
          </a:p>
          <a:p>
            <a:pPr algn="just">
              <a:spcBef>
                <a:spcPts val="1200"/>
              </a:spcBef>
            </a:pPr>
            <a:r>
              <a:rPr lang="en-US" sz="2800" b="1" dirty="0">
                <a:solidFill>
                  <a:srgbClr val="9A0000"/>
                </a:solidFill>
                <a:latin typeface="Avenir Black" panose="02000503020000020003" pitchFamily="2" charset="0"/>
                <a:cs typeface="Arial" panose="020B0604020202020204" pitchFamily="34" charset="0"/>
              </a:rPr>
              <a:t>Results</a:t>
            </a:r>
            <a:r>
              <a:rPr lang="en-US" sz="2800" dirty="0">
                <a:latin typeface="Avenir Book" panose="02000503020000020003" pitchFamily="2" charset="0"/>
                <a:cs typeface="Arial" panose="020B0604020202020204" pitchFamily="34" charset="0"/>
              </a:rPr>
              <a:t>: Segmentation models trained on Merlin Plus substantially surpass state-of-the-art public AI models (ULS and FLARE) in the detection and segmentation of 9 tumor types, with </a:t>
            </a:r>
            <a:r>
              <a:rPr lang="en-US" sz="2800" b="1" dirty="0">
                <a:latin typeface="Avenir Book" panose="02000503020000020003" pitchFamily="2" charset="0"/>
                <a:cs typeface="Arial" panose="020B0604020202020204" pitchFamily="34" charset="0"/>
              </a:rPr>
              <a:t>+23% F1-Score and +29% DSC</a:t>
            </a:r>
            <a:r>
              <a:rPr lang="en-US" sz="2800" dirty="0">
                <a:latin typeface="Avenir Book" panose="02000503020000020003" pitchFamily="2" charset="0"/>
                <a:cs typeface="Arial" panose="020B0604020202020204" pitchFamily="34" charset="0"/>
              </a:rPr>
              <a:t>, showing that Merlin Plus fills a substantial gap in public data. Segmentation models trained on Merlin Plus also substantially surpass the Merlin model and classification models trained on Merlin in tumor detection, by </a:t>
            </a:r>
            <a:r>
              <a:rPr lang="en-US" sz="2800" b="1" dirty="0">
                <a:latin typeface="Avenir Book" panose="02000503020000020003" pitchFamily="2" charset="0"/>
                <a:cs typeface="Arial" panose="020B0604020202020204" pitchFamily="34" charset="0"/>
              </a:rPr>
              <a:t>+10% F1-Score</a:t>
            </a:r>
            <a:r>
              <a:rPr lang="en-US" sz="2800" dirty="0">
                <a:latin typeface="Avenir Book" panose="02000503020000020003" pitchFamily="2" charset="0"/>
                <a:cs typeface="Arial" panose="020B0604020202020204" pitchFamily="34" charset="0"/>
              </a:rPr>
              <a:t>, revealing the importance of tumor segmentation masks.</a:t>
            </a:r>
            <a:endParaRPr lang="en-US" sz="2800" dirty="0">
              <a:solidFill>
                <a:srgbClr val="4F95DB"/>
              </a:solidFill>
              <a:latin typeface="Avenir Book" panose="02000503020000020003" pitchFamily="2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7DC87D-2A77-18AD-5417-61B6F2148404}"/>
              </a:ext>
            </a:extLst>
          </p:cNvPr>
          <p:cNvSpPr txBox="1"/>
          <p:nvPr/>
        </p:nvSpPr>
        <p:spPr>
          <a:xfrm>
            <a:off x="337373" y="10888083"/>
            <a:ext cx="14415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9A0000"/>
                </a:solidFill>
                <a:highlight>
                  <a:srgbClr val="FFFF00"/>
                </a:highlight>
                <a:latin typeface="Avenir Black" panose="02000503020000020003" pitchFamily="2" charset="0"/>
              </a:rPr>
              <a:t>Large-Scale</a:t>
            </a:r>
            <a:r>
              <a:rPr lang="en-US" sz="3200" b="1" dirty="0">
                <a:solidFill>
                  <a:srgbClr val="9A0000"/>
                </a:solidFill>
                <a:latin typeface="Avenir Black" panose="02000503020000020003" pitchFamily="2" charset="0"/>
              </a:rPr>
              <a:t>: 25,494 CT Scans, Masks for Tumors in 9 Organs</a:t>
            </a:r>
          </a:p>
        </p:txBody>
      </p:sp>
      <p:pic>
        <p:nvPicPr>
          <p:cNvPr id="1044" name="Picture 1043">
            <a:extLst>
              <a:ext uri="{FF2B5EF4-FFF2-40B4-BE49-F238E27FC236}">
                <a16:creationId xmlns:a16="http://schemas.microsoft.com/office/drawing/2014/main" id="{BEB55433-69A4-5FB1-1740-65E52E792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5329690" y="10858132"/>
            <a:ext cx="14551872" cy="8047453"/>
          </a:xfrm>
          <a:prstGeom prst="rect">
            <a:avLst/>
          </a:prstGeom>
        </p:spPr>
      </p:pic>
      <p:pic>
        <p:nvPicPr>
          <p:cNvPr id="19" name="Picture 4" descr="MICCAI 2026 - 29. International Conference On Medical Image Computing &amp;  Computer Assisted Intervention">
            <a:extLst>
              <a:ext uri="{FF2B5EF4-FFF2-40B4-BE49-F238E27FC236}">
                <a16:creationId xmlns:a16="http://schemas.microsoft.com/office/drawing/2014/main" id="{779DBA6E-8CB5-55E8-4EC9-ED0B2CCD8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5480" y="537900"/>
            <a:ext cx="5732272" cy="199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B7544DA-D9F1-2901-4AA2-9BFECC42FF16}"/>
              </a:ext>
            </a:extLst>
          </p:cNvPr>
          <p:cNvSpPr txBox="1"/>
          <p:nvPr/>
        </p:nvSpPr>
        <p:spPr>
          <a:xfrm rot="20264413">
            <a:off x="26910417" y="3031434"/>
            <a:ext cx="31046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highlight>
                  <a:srgbClr val="FFFF00"/>
                </a:highlight>
                <a:latin typeface="Avenir Book" panose="02000503020000020003" pitchFamily="2" charset="0"/>
              </a:rPr>
              <a:t>Download</a:t>
            </a:r>
          </a:p>
          <a:p>
            <a:r>
              <a:rPr lang="en-US" sz="4800" b="1" dirty="0">
                <a:solidFill>
                  <a:srgbClr val="FF0000"/>
                </a:solidFill>
                <a:highlight>
                  <a:srgbClr val="FFFF00"/>
                </a:highlight>
                <a:latin typeface="Avenir Book" panose="02000503020000020003" pitchFamily="2" charset="0"/>
              </a:rPr>
              <a:t>the Data!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8919282-D3C7-5726-EA63-8892BBD3B2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46070" y="4461498"/>
            <a:ext cx="965200" cy="520843"/>
          </a:xfrm>
          <a:prstGeom prst="rect">
            <a:avLst/>
          </a:prstGeom>
        </p:spPr>
      </p:pic>
      <p:pic>
        <p:nvPicPr>
          <p:cNvPr id="1034" name="Picture 10" descr="Stanford University Logo, symbol, meaning, history, PNG, brand">
            <a:extLst>
              <a:ext uri="{FF2B5EF4-FFF2-40B4-BE49-F238E27FC236}">
                <a16:creationId xmlns:a16="http://schemas.microsoft.com/office/drawing/2014/main" id="{822B612B-D121-42A7-CCAC-4F71DE43A3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05" b="21117"/>
          <a:stretch/>
        </p:blipFill>
        <p:spPr bwMode="auto">
          <a:xfrm>
            <a:off x="398558" y="3147343"/>
            <a:ext cx="4045615" cy="1383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3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B5E6AE06-A590-3DDF-B7A2-528CC0392A1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377639" y="2602065"/>
            <a:ext cx="2407472" cy="2407472"/>
          </a:xfrm>
          <a:prstGeom prst="rect">
            <a:avLst/>
          </a:prstGeom>
        </p:spPr>
      </p:pic>
      <p:pic>
        <p:nvPicPr>
          <p:cNvPr id="47" name="Picture 46" descr="A collage of images of a person's body&#10;&#10;Description automatically generated">
            <a:extLst>
              <a:ext uri="{FF2B5EF4-FFF2-40B4-BE49-F238E27FC236}">
                <a16:creationId xmlns:a16="http://schemas.microsoft.com/office/drawing/2014/main" id="{E0511CC5-CE92-68FD-DFDA-1D79C365DB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1459" y="11433596"/>
            <a:ext cx="14397895" cy="3221686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70508934-8170-DA2A-4AD6-F9E0C1013F46}"/>
              </a:ext>
            </a:extLst>
          </p:cNvPr>
          <p:cNvSpPr txBox="1"/>
          <p:nvPr/>
        </p:nvSpPr>
        <p:spPr>
          <a:xfrm>
            <a:off x="430910" y="15568968"/>
            <a:ext cx="140934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9A0000"/>
                </a:solidFill>
                <a:highlight>
                  <a:srgbClr val="FFFF00"/>
                </a:highlight>
                <a:latin typeface="Avenir Black" panose="02000503020000020003" pitchFamily="2" charset="0"/>
              </a:rPr>
              <a:t>New Tumor Types</a:t>
            </a:r>
            <a:r>
              <a:rPr lang="en-US" sz="3200" b="1" dirty="0">
                <a:solidFill>
                  <a:srgbClr val="9A0000"/>
                </a:solidFill>
                <a:latin typeface="Avenir Black" panose="02000503020000020003" pitchFamily="2" charset="0"/>
              </a:rPr>
              <a:t>: First Public Masks for Tumors in the </a:t>
            </a:r>
          </a:p>
          <a:p>
            <a:pPr algn="ctr"/>
            <a:r>
              <a:rPr lang="en-US" sz="3200" b="1" dirty="0">
                <a:solidFill>
                  <a:srgbClr val="9A0000"/>
                </a:solidFill>
                <a:latin typeface="Avenir Black" panose="02000503020000020003" pitchFamily="2" charset="0"/>
              </a:rPr>
              <a:t>Spleen, Bladder, Gallbladder, Stomach, Duodenum and Prostate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216C0F-7D5A-5E36-25C9-1579F629DE53}"/>
              </a:ext>
            </a:extLst>
          </p:cNvPr>
          <p:cNvSpPr txBox="1"/>
          <p:nvPr/>
        </p:nvSpPr>
        <p:spPr>
          <a:xfrm>
            <a:off x="548994" y="14742121"/>
            <a:ext cx="13792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800" dirty="0">
                <a:latin typeface="Avenir Book" panose="02000503020000020003" pitchFamily="2" charset="0"/>
              </a:rPr>
              <a:t>1,193 masks, including all confirmed malignant tumors</a:t>
            </a:r>
          </a:p>
          <a:p>
            <a:pPr marL="685800" indent="-685800" algn="just">
              <a:buFont typeface="Wingdings" pitchFamily="2" charset="2"/>
              <a:buChar char="v"/>
            </a:pPr>
            <a:endParaRPr lang="en-US" sz="2800" dirty="0">
              <a:latin typeface="Avenir Book" panose="02000503020000020003" pitchFamily="2" charset="0"/>
            </a:endParaRP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1BC299D4-EA8C-2462-D18F-94E23C6871CA}"/>
              </a:ext>
            </a:extLst>
          </p:cNvPr>
          <p:cNvSpPr txBox="1"/>
          <p:nvPr/>
        </p:nvSpPr>
        <p:spPr>
          <a:xfrm>
            <a:off x="248124" y="20740751"/>
            <a:ext cx="14093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9A0000"/>
                </a:solidFill>
                <a:highlight>
                  <a:srgbClr val="FFFF00"/>
                </a:highlight>
                <a:latin typeface="Avenir Black" panose="02000503020000020003" pitchFamily="2" charset="0"/>
              </a:rPr>
              <a:t>Longitudinal</a:t>
            </a:r>
            <a:r>
              <a:rPr lang="en-US" sz="3200" b="1" dirty="0">
                <a:solidFill>
                  <a:srgbClr val="9A0000"/>
                </a:solidFill>
                <a:latin typeface="Avenir Black" panose="02000503020000020003" pitchFamily="2" charset="0"/>
              </a:rPr>
              <a:t>: Patients with Multiple Time Points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53BA89AE-0A57-139C-DF15-1E69E5A77500}"/>
              </a:ext>
            </a:extLst>
          </p:cNvPr>
          <p:cNvSpPr txBox="1"/>
          <p:nvPr/>
        </p:nvSpPr>
        <p:spPr>
          <a:xfrm>
            <a:off x="492925" y="28164538"/>
            <a:ext cx="13792558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800" dirty="0">
                <a:latin typeface="Avenir Book" panose="02000503020000020003" pitchFamily="2" charset="0"/>
              </a:rPr>
              <a:t>We release anonymized patient IDs and scan dates</a:t>
            </a:r>
          </a:p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800" dirty="0">
                <a:latin typeface="Avenir Book" panose="02000503020000020003" pitchFamily="2" charset="0"/>
              </a:rPr>
              <a:t>Allows learning cancer evolution</a:t>
            </a:r>
          </a:p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800" dirty="0">
                <a:latin typeface="Avenir Book" panose="02000503020000020003" pitchFamily="2" charset="0"/>
              </a:rPr>
              <a:t>Large-scale longitudinal </a:t>
            </a:r>
            <a:r>
              <a:rPr lang="en-US" sz="2800" b="1" u="sng" dirty="0">
                <a:solidFill>
                  <a:srgbClr val="9A0000"/>
                </a:solidFill>
                <a:latin typeface="Avenir Book" panose="02000503020000020003" pitchFamily="2" charset="0"/>
              </a:rPr>
              <a:t>CT scans, masks, and reports</a:t>
            </a:r>
          </a:p>
          <a:p>
            <a:pPr marL="685800" indent="-685800" algn="just">
              <a:buFont typeface="Wingdings" pitchFamily="2" charset="2"/>
              <a:buChar char="v"/>
            </a:pPr>
            <a:endParaRPr lang="en-US" sz="2800" dirty="0">
              <a:latin typeface="Avenir Book" panose="02000503020000020003" pitchFamily="2" charset="0"/>
            </a:endParaRP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9BCC35FA-1917-CEA1-AB22-8D254FEF3E2E}"/>
              </a:ext>
            </a:extLst>
          </p:cNvPr>
          <p:cNvSpPr txBox="1"/>
          <p:nvPr/>
        </p:nvSpPr>
        <p:spPr>
          <a:xfrm>
            <a:off x="15548575" y="10894987"/>
            <a:ext cx="140934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9A0000"/>
                </a:solidFill>
                <a:highlight>
                  <a:srgbClr val="FFFF00"/>
                </a:highlight>
                <a:latin typeface="Avenir Black" panose="02000503020000020003" pitchFamily="2" charset="0"/>
              </a:rPr>
              <a:t>New State-of-the-art</a:t>
            </a:r>
            <a:r>
              <a:rPr lang="en-US" sz="3200" b="1" dirty="0">
                <a:solidFill>
                  <a:srgbClr val="9A0000"/>
                </a:solidFill>
                <a:latin typeface="Avenir Black" panose="02000503020000020003" pitchFamily="2" charset="0"/>
              </a:rPr>
              <a:t>: Merlin Plus Models Substantially Surpass Previous Public AI in Tumor Detection &amp; Segmentation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4DAA4EA2-8B5B-05CD-25A9-2A1889CB2078}"/>
              </a:ext>
            </a:extLst>
          </p:cNvPr>
          <p:cNvSpPr txBox="1"/>
          <p:nvPr/>
        </p:nvSpPr>
        <p:spPr>
          <a:xfrm>
            <a:off x="15584699" y="19283140"/>
            <a:ext cx="140934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9A0000"/>
                </a:solidFill>
                <a:highlight>
                  <a:srgbClr val="FFFF00"/>
                </a:highlight>
                <a:latin typeface="Avenir Black" panose="02000503020000020003" pitchFamily="2" charset="0"/>
              </a:rPr>
              <a:t>Masks Improve Cancer Detection</a:t>
            </a:r>
            <a:r>
              <a:rPr lang="en-US" sz="3200" b="1" dirty="0">
                <a:solidFill>
                  <a:srgbClr val="9A0000"/>
                </a:solidFill>
                <a:latin typeface="Avenir Black" panose="02000503020000020003" pitchFamily="2" charset="0"/>
              </a:rPr>
              <a:t>: Merlin Plus Models Substantially Surpass Models Trained on Merlin (no Mask) in Tumor Detection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82057821-545A-7F45-5A4B-8F347B477BAA}"/>
              </a:ext>
            </a:extLst>
          </p:cNvPr>
          <p:cNvSpPr txBox="1"/>
          <p:nvPr/>
        </p:nvSpPr>
        <p:spPr>
          <a:xfrm>
            <a:off x="398558" y="35853852"/>
            <a:ext cx="14093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9A0000"/>
                </a:solidFill>
                <a:highlight>
                  <a:srgbClr val="FFFF00"/>
                </a:highlight>
                <a:latin typeface="Avenir Black" panose="02000503020000020003" pitchFamily="2" charset="0"/>
              </a:rPr>
              <a:t>Accelerating Mask Creation</a:t>
            </a:r>
            <a:r>
              <a:rPr lang="en-US" sz="3200" b="1" dirty="0">
                <a:solidFill>
                  <a:srgbClr val="9A0000"/>
                </a:solidFill>
                <a:latin typeface="Avenir Black" panose="02000503020000020003" pitchFamily="2" charset="0"/>
              </a:rPr>
              <a:t>: Report-Based Active Learning</a:t>
            </a:r>
          </a:p>
        </p:txBody>
      </p:sp>
      <p:pic>
        <p:nvPicPr>
          <p:cNvPr id="1072" name="Picture 1071">
            <a:extLst>
              <a:ext uri="{FF2B5EF4-FFF2-40B4-BE49-F238E27FC236}">
                <a16:creationId xmlns:a16="http://schemas.microsoft.com/office/drawing/2014/main" id="{15F45803-4596-1E97-CFD7-9DFBC12BE9E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447415" y="25018915"/>
            <a:ext cx="14269509" cy="16563185"/>
          </a:xfrm>
          <a:prstGeom prst="rect">
            <a:avLst/>
          </a:prstGeom>
        </p:spPr>
      </p:pic>
      <p:sp>
        <p:nvSpPr>
          <p:cNvPr id="1075" name="TextBox 1074">
            <a:extLst>
              <a:ext uri="{FF2B5EF4-FFF2-40B4-BE49-F238E27FC236}">
                <a16:creationId xmlns:a16="http://schemas.microsoft.com/office/drawing/2014/main" id="{43308CAA-57C6-DE22-BC7D-A0789A3EE817}"/>
              </a:ext>
            </a:extLst>
          </p:cNvPr>
          <p:cNvSpPr txBox="1"/>
          <p:nvPr/>
        </p:nvSpPr>
        <p:spPr>
          <a:xfrm>
            <a:off x="15140710" y="23737635"/>
            <a:ext cx="140934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9A0000"/>
                </a:solidFill>
                <a:highlight>
                  <a:srgbClr val="FFFF00"/>
                </a:highlight>
                <a:latin typeface="Avenir Black" panose="02000503020000020003" pitchFamily="2" charset="0"/>
              </a:rPr>
              <a:t>Full Results</a:t>
            </a:r>
            <a:r>
              <a:rPr lang="en-US" sz="3200" b="1" dirty="0">
                <a:solidFill>
                  <a:srgbClr val="9A0000"/>
                </a:solidFill>
                <a:latin typeface="Avenir Black" panose="02000503020000020003" pitchFamily="2" charset="0"/>
              </a:rPr>
              <a:t>: Detection and Segmentation of 9 Tumor Types</a:t>
            </a:r>
          </a:p>
          <a:p>
            <a:pPr algn="ctr"/>
            <a:r>
              <a:rPr lang="en-US" sz="3200" b="1" dirty="0">
                <a:solidFill>
                  <a:srgbClr val="9A0000"/>
                </a:solidFill>
                <a:latin typeface="Avenir Black" panose="02000503020000020003" pitchFamily="2" charset="0"/>
              </a:rPr>
              <a:t>Internal &amp; External Validation</a:t>
            </a:r>
          </a:p>
        </p:txBody>
      </p:sp>
      <p:pic>
        <p:nvPicPr>
          <p:cNvPr id="1086" name="Picture 1085">
            <a:extLst>
              <a:ext uri="{FF2B5EF4-FFF2-40B4-BE49-F238E27FC236}">
                <a16:creationId xmlns:a16="http://schemas.microsoft.com/office/drawing/2014/main" id="{BAB38F9B-65FB-2485-DF89-0EA02F0116B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8510" y="30126382"/>
            <a:ext cx="5758292" cy="623067"/>
          </a:xfrm>
          <a:prstGeom prst="rect">
            <a:avLst/>
          </a:prstGeom>
        </p:spPr>
      </p:pic>
      <p:sp>
        <p:nvSpPr>
          <p:cNvPr id="1098" name="TextBox 1097">
            <a:extLst>
              <a:ext uri="{FF2B5EF4-FFF2-40B4-BE49-F238E27FC236}">
                <a16:creationId xmlns:a16="http://schemas.microsoft.com/office/drawing/2014/main" id="{808FB0E1-A1B5-0E80-4749-65E3F21F2C64}"/>
              </a:ext>
            </a:extLst>
          </p:cNvPr>
          <p:cNvSpPr txBox="1"/>
          <p:nvPr/>
        </p:nvSpPr>
        <p:spPr>
          <a:xfrm>
            <a:off x="417223" y="40539863"/>
            <a:ext cx="143678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800" b="1" dirty="0">
                <a:solidFill>
                  <a:srgbClr val="C00000"/>
                </a:solidFill>
                <a:highlight>
                  <a:srgbClr val="FFFF00"/>
                </a:highlight>
                <a:latin typeface="Avenir Book" panose="02000503020000020003" pitchFamily="2" charset="0"/>
              </a:rPr>
              <a:t>New post-processing: auto refine masks to match tumor descriptions in reports!</a:t>
            </a:r>
          </a:p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800" dirty="0">
                <a:latin typeface="Avenir Book" panose="02000503020000020003" pitchFamily="2" charset="0"/>
              </a:rPr>
              <a:t>Problematic masks are found by comparing masks and reports</a:t>
            </a:r>
          </a:p>
          <a:p>
            <a:pPr marL="685800" indent="-685800" algn="just">
              <a:spcBef>
                <a:spcPts val="600"/>
              </a:spcBef>
              <a:buFont typeface="Wingdings" pitchFamily="2" charset="2"/>
              <a:buChar char="v"/>
            </a:pPr>
            <a:r>
              <a:rPr lang="en-US" sz="2800" b="1" dirty="0">
                <a:latin typeface="Avenir Book" panose="02000503020000020003" pitchFamily="2" charset="0"/>
              </a:rPr>
              <a:t>Radiologists revise refined masks: </a:t>
            </a:r>
            <a:r>
              <a:rPr lang="en-US" sz="2800" dirty="0">
                <a:latin typeface="Avenir Book" panose="02000503020000020003" pitchFamily="2" charset="0"/>
              </a:rPr>
              <a:t>3X – 5X faster than creating masks from scratch</a:t>
            </a:r>
          </a:p>
        </p:txBody>
      </p:sp>
      <p:pic>
        <p:nvPicPr>
          <p:cNvPr id="1028" name="Picture 4" descr="Harvard University Logo PNG Vector (AI) Free Download">
            <a:extLst>
              <a:ext uri="{FF2B5EF4-FFF2-40B4-BE49-F238E27FC236}">
                <a16:creationId xmlns:a16="http://schemas.microsoft.com/office/drawing/2014/main" id="{4B8A310E-8ED3-252E-CA69-F8A90A3D9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68" t="4537" r="15950" b="31833"/>
          <a:stretch/>
        </p:blipFill>
        <p:spPr bwMode="auto">
          <a:xfrm>
            <a:off x="4476636" y="2839652"/>
            <a:ext cx="1939316" cy="1847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041D7F2-F836-9DDA-9CC9-307F07DDF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871" y="835633"/>
            <a:ext cx="2242846" cy="109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C681BA-25F0-BFAA-2B25-93B8E65E556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91666" y="452849"/>
            <a:ext cx="1320477" cy="2067230"/>
          </a:xfrm>
          <a:prstGeom prst="rect">
            <a:avLst/>
          </a:prstGeom>
        </p:spPr>
      </p:pic>
      <p:pic>
        <p:nvPicPr>
          <p:cNvPr id="1032" name="Picture 8" descr="Updated figure">
            <a:extLst>
              <a:ext uri="{FF2B5EF4-FFF2-40B4-BE49-F238E27FC236}">
                <a16:creationId xmlns:a16="http://schemas.microsoft.com/office/drawing/2014/main" id="{A6C5FBFE-2328-2CF6-5AB0-80C49FD959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0"/>
          <a:stretch/>
        </p:blipFill>
        <p:spPr bwMode="auto">
          <a:xfrm>
            <a:off x="15383961" y="11915573"/>
            <a:ext cx="14443327" cy="692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ompact figure">
            <a:extLst>
              <a:ext uri="{FF2B5EF4-FFF2-40B4-BE49-F238E27FC236}">
                <a16:creationId xmlns:a16="http://schemas.microsoft.com/office/drawing/2014/main" id="{7940FB9B-3ABF-A667-FF31-E2AD0817C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3475" y="20500128"/>
            <a:ext cx="14448574" cy="258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86EAC3F-9CA9-1F76-6639-8DE77D1A637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223" y="29659634"/>
            <a:ext cx="14274975" cy="57418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4E6E324-E869-2127-C935-9D7673C7DE60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5048" b="10576"/>
          <a:stretch/>
        </p:blipFill>
        <p:spPr>
          <a:xfrm>
            <a:off x="368647" y="36457799"/>
            <a:ext cx="14366514" cy="4048068"/>
          </a:xfrm>
          <a:prstGeom prst="rect">
            <a:avLst/>
          </a:prstGeom>
        </p:spPr>
      </p:pic>
      <p:pic>
        <p:nvPicPr>
          <p:cNvPr id="21" name="Picture 20" descr="Updated mask counts">
            <a:extLst>
              <a:ext uri="{FF2B5EF4-FFF2-40B4-BE49-F238E27FC236}">
                <a16:creationId xmlns:a16="http://schemas.microsoft.com/office/drawing/2014/main" id="{7E2DBA9E-8738-D1BD-43CE-C2527C6867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58" r="1660"/>
          <a:stretch/>
        </p:blipFill>
        <p:spPr bwMode="auto">
          <a:xfrm>
            <a:off x="444450" y="16648222"/>
            <a:ext cx="14134159" cy="363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pdated figure">
            <a:extLst>
              <a:ext uri="{FF2B5EF4-FFF2-40B4-BE49-F238E27FC236}">
                <a16:creationId xmlns:a16="http://schemas.microsoft.com/office/drawing/2014/main" id="{C192C064-B7F0-5287-F387-5A2C5ACCE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45" y="21285746"/>
            <a:ext cx="14274976" cy="680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281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63C5678F0D3F479E69E6AB67551190" ma:contentTypeVersion="15" ma:contentTypeDescription="Create a new document." ma:contentTypeScope="" ma:versionID="84ca11deb210e04ca8f9ad0580409488">
  <xsd:schema xmlns:xsd="http://www.w3.org/2001/XMLSchema" xmlns:xs="http://www.w3.org/2001/XMLSchema" xmlns:p="http://schemas.microsoft.com/office/2006/metadata/properties" xmlns:ns2="300b94c4-4313-4f58-a977-849a339be42d" xmlns:ns3="a852daec-d9ee-4fe4-acd5-23bfd96705f3" targetNamespace="http://schemas.microsoft.com/office/2006/metadata/properties" ma:root="true" ma:fieldsID="9436841a1d59bd09e699be8de0b302b4" ns2:_="" ns3:_="">
    <xsd:import namespace="300b94c4-4313-4f58-a977-849a339be42d"/>
    <xsd:import namespace="a852daec-d9ee-4fe4-acd5-23bfd96705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0b94c4-4313-4f58-a977-849a339be4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3f7c956-802a-45ac-b2ba-cc78506785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52daec-d9ee-4fe4-acd5-23bfd96705f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f814582-03b9-4138-add7-1d3d7a40168a}" ma:internalName="TaxCatchAll" ma:showField="CatchAllData" ma:web="a852daec-d9ee-4fe4-acd5-23bfd96705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0b94c4-4313-4f58-a977-849a339be42d">
      <Terms xmlns="http://schemas.microsoft.com/office/infopath/2007/PartnerControls"/>
    </lcf76f155ced4ddcb4097134ff3c332f>
    <TaxCatchAll xmlns="a852daec-d9ee-4fe4-acd5-23bfd96705f3" xsi:nil="true"/>
  </documentManagement>
</p:properties>
</file>

<file path=customXml/itemProps1.xml><?xml version="1.0" encoding="utf-8"?>
<ds:datastoreItem xmlns:ds="http://schemas.openxmlformats.org/officeDocument/2006/customXml" ds:itemID="{FDA2A1FA-1F2A-4760-82AF-902AE25853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B03206-AFA6-4D88-9045-F7D5764793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0b94c4-4313-4f58-a977-849a339be42d"/>
    <ds:schemaRef ds:uri="a852daec-d9ee-4fe4-acd5-23bfd96705f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F0D455-7748-4F85-858C-B90FBB7DFC8A}">
  <ds:schemaRefs>
    <ds:schemaRef ds:uri="300b94c4-4313-4f58-a977-849a339be42d"/>
    <ds:schemaRef ds:uri="a852daec-d9ee-4fe4-acd5-23bfd96705f3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5109</TotalTime>
  <Words>598</Words>
  <Application>Microsoft Macintosh PowerPoint</Application>
  <PresentationFormat>Custom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Arial</vt:lpstr>
      <vt:lpstr>Avenir Black</vt:lpstr>
      <vt:lpstr>Avenir Book</vt:lpstr>
      <vt:lpstr>Avenir Medium</vt:lpstr>
      <vt:lpstr>Calibri</vt:lpstr>
      <vt:lpstr>Calibri Light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Erdogan Kaya - Milk Creative &amp; Events</dc:creator>
  <cp:lastModifiedBy>Pedro Salvador Bassi</cp:lastModifiedBy>
  <cp:revision>59</cp:revision>
  <cp:lastPrinted>2025-09-13T19:45:02Z</cp:lastPrinted>
  <dcterms:created xsi:type="dcterms:W3CDTF">2025-07-29T05:48:00Z</dcterms:created>
  <dcterms:modified xsi:type="dcterms:W3CDTF">2026-09-22T21:44:55Z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0x0101009663C5678F0D3F479E69E6AB67551190</vt:lpwstr>
  </property>
  <property fmtid="{D5CDD505-2E9C-101B-9397-08002B2CF9AE}" pid="3" name="MediaServiceImageTags">
    <vt:lpwstr/>
  </property>
</Properties>
</file>